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Prata" panose="020B0604020202020204" charset="0"/>
      <p:regular r:id="rId14"/>
    </p:embeddedFont>
    <p:embeddedFont>
      <p:font typeface="Raleway" pitchFamily="2" charset="0"/>
      <p:regular r:id="rId15"/>
    </p:embeddedFont>
    <p:embeddedFont>
      <p:font typeface="Raleway Bold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14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Securing Your Finances: A Deep Dive into Online Banking Cryptography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Clear, concise walkthrough of how banks protect transactions and accounts using modern cryptography, authentication, and layered defenses. Focus: confidentiality, integrity, authenticity, and practical steps you can take.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08856"/>
            <a:ext cx="4722763" cy="68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Digital Vault: How Online Banking Stays Safe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925119" y="1494904"/>
            <a:ext cx="2294855" cy="1217861"/>
          </a:xfrm>
          <a:prstGeom prst="roundRect">
            <a:avLst>
              <a:gd name="adj" fmla="val 1692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4062413" y="1632198"/>
            <a:ext cx="20202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Layered Security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2413" y="1926506"/>
            <a:ext cx="202026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controls work together — cryptography, authentication, monitoring, and policies.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2952" y="1494904"/>
            <a:ext cx="2294930" cy="1217861"/>
          </a:xfrm>
          <a:prstGeom prst="roundRect">
            <a:avLst>
              <a:gd name="adj" fmla="val 1692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6490246" y="1632198"/>
            <a:ext cx="20203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Goals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0246" y="1926506"/>
            <a:ext cx="20203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Confidentiality, integrity, availability, and non-repudiation.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845743"/>
            <a:ext cx="4722763" cy="785217"/>
          </a:xfrm>
          <a:prstGeom prst="roundRect">
            <a:avLst>
              <a:gd name="adj" fmla="val 2624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4062413" y="2983037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Monitoring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2413" y="3277344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detection systems flag anomalous behavior before funds move.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780606"/>
            <a:ext cx="4722763" cy="753963"/>
          </a:xfrm>
          <a:prstGeom prst="roundRect">
            <a:avLst>
              <a:gd name="adj" fmla="val 2732"/>
            </a:avLst>
          </a:prstGeom>
          <a:solidFill>
            <a:srgbClr val="71660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13" y="3974902"/>
            <a:ext cx="171599" cy="1372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1305" y="3947889"/>
            <a:ext cx="4139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Theme accents use #eee27dff and #F4E883 to highlight key concepts.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951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AES Encryption: The Foundation of Data Confidentiality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90130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544017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What it is: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AES (Advanced Encryption Standard) is a symmetric block cipher used to encrypt data at rest and in transit inside banking 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125191"/>
            <a:ext cx="4752677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strengths: 128-, 192-, 256-bit keys (AES-256 typical for high-security).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cases: database encryption, TLS session payloads, secure backups.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Performance: fast on modern hardware — ideal for high-volume banking traffic.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712741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Result: Even if data is intercepted, AES renders the payload unreadable without the key.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796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RSA Key Exchange: Establishing Secure Communication Channels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3737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Purpose: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RSA (asymmetric cryptography) enables secure key exchange and identity verification using public/private keypairs.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745358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Server presents a public key (certificate) — client verifies via PKI.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 encrypts a session key with the server's public key; only server can decrypt with its private key.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Commonly used in TLS handshakes to bootstrap symmetric AES sessions.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522586"/>
            <a:ext cx="3902943" cy="22116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389371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Security notes: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Strong RSA key lengths (2048–4096 bits) and certificate validation prevent man-in-the-middle attacks when implemented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351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Digital Signatures: Ensuring Authenticity and Non-Repudiation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14835"/>
            <a:ext cx="1479724" cy="262197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851" y="1542380"/>
            <a:ext cx="170111" cy="17011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6927" y="1981795"/>
            <a:ext cx="1158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they do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656927" y="2288307"/>
            <a:ext cx="11581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Bind a sender to a message using the sender's private key; recipients verify with the public key.</a:t>
            </a:r>
            <a:endParaRPr lang="en-US" sz="1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7601" y="1414835"/>
            <a:ext cx="1479724" cy="2621979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2333" y="1542380"/>
            <a:ext cx="170111" cy="17011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278410" y="1981795"/>
            <a:ext cx="1158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 cases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2278410" y="2288307"/>
            <a:ext cx="1158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approvals, contract signing, secure API requests.</a:t>
            </a:r>
            <a:endParaRPr lang="en-US" sz="11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083" y="1414835"/>
            <a:ext cx="1479724" cy="262197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3816" y="1542380"/>
            <a:ext cx="170111" cy="17011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899892" y="1981795"/>
            <a:ext cx="1158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Non-repudiation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3899892" y="2509763"/>
            <a:ext cx="11581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Provides cryptographic proof that a specific party authorized an action.</a:t>
            </a:r>
            <a:endParaRPr lang="en-US" sz="1100" dirty="0"/>
          </a:p>
        </p:txBody>
      </p:sp>
      <p:sp>
        <p:nvSpPr>
          <p:cNvPr id="16" name="Text 7"/>
          <p:cNvSpPr/>
          <p:nvPr/>
        </p:nvSpPr>
        <p:spPr>
          <a:xfrm>
            <a:off x="496119" y="41962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algorithms: RSA signatures, ECDSA (Elliptic Curve) for smaller keys and faster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662"/>
            <a:ext cx="8151763" cy="68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Two-Factor Authentication (OTP): Your Extra Layer of Protection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6696"/>
            <a:ext cx="5181377" cy="2936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442442"/>
            <a:ext cx="309250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Second factor types: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17270" y="1778496"/>
            <a:ext cx="2635300" cy="203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Time-based OTP apps (TOTP) — authenticator apps like Google Authenticator.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SMS OTP — convenient but vulnerable to SIM swap; considered weaker.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tokens &amp; push notifications — higher security and phishing resistance.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17270" y="3938141"/>
            <a:ext cx="263530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Best practice:</a:t>
            </a: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Prefer authenticator apps or hardware tokens; combine with device fingerprinting and session risk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8792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Real-World Security: Cryptography in Action at SBI, HDFC, and ICICI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41029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041029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SBI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347540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TLS with strong ciphers, multi-layer authentication, and transaction signing for high-value transfers.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041029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041029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HDFC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347540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Uses device binding, app-level encryption, tokenization of payment data, and risk-based 2FA flows.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041029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041029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ICICI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347540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Implements strong PKI, end-to-end encryption in mobile apps, and behavioral analytics to detect fraud.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64108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These banks combine cryptography with operational controls (monitoring, fraud teams, regulatory compliance) to protect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0312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Demonstration: Encrypting a Transaction, Step-by-Step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384" y="1524446"/>
            <a:ext cx="3666232" cy="21759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5143" y="3107886"/>
            <a:ext cx="911351" cy="35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Bank Decrypts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856593" y="3107886"/>
            <a:ext cx="911350" cy="35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Encrypt AES Key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89314" y="3107886"/>
            <a:ext cx="911351" cy="35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Create &amp; Encrypt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25119" y="385985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Caption: This sequence shows how symmetric encryption (AES) protects the bulk payload while asymmetric RSA secures the session key — combining speed with secure key exchange.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899"/>
            <a:ext cx="4722763" cy="9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Beyond the Basics: Emerging Threats and the Future of Online Banking Security</a:t>
            </a:r>
            <a:endParaRPr lang="en-US" sz="1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524893"/>
            <a:ext cx="2307134" cy="14370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9092" y="1648867"/>
            <a:ext cx="20591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Threats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049092" y="1907828"/>
            <a:ext cx="205918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Phishing, SIM-swap, supply chain compromises, and advanced persistent threats targeting credentials and servers.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748" y="1524893"/>
            <a:ext cx="2307134" cy="14370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4722" y="1648867"/>
            <a:ext cx="20591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Trends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64722" y="1907828"/>
            <a:ext cx="2059186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Post-quantum cryptography planning, wider adoption of ECDSA/ECDH, hardware-backed keys, and biometric multi-factor flows.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070473"/>
            <a:ext cx="4722763" cy="8789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49092" y="3194447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049092" y="3453408"/>
            <a:ext cx="447481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Zero-trust architectures, continuous authentication, and automated anomaly response will raise the bar for attackers.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3925119" y="4071491"/>
            <a:ext cx="4722763" cy="640110"/>
          </a:xfrm>
          <a:prstGeom prst="roundRect">
            <a:avLst>
              <a:gd name="adj" fmla="val 2907"/>
            </a:avLst>
          </a:prstGeom>
          <a:solidFill>
            <a:srgbClr val="022349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9092" y="4246513"/>
            <a:ext cx="155004" cy="1239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28071" y="4210943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Banks are already planning migrations to quantum-resistant algorithms — long-term protection matters.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7000"/>
            <a:ext cx="4722763" cy="6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Your Role in Security: Best Practices and Key Takeaways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96119" y="1453307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892597" y="1496690"/>
            <a:ext cx="15592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Protect credentials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2597" y="1806401"/>
            <a:ext cx="155927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unique passwords and a password manager.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2413174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892597" y="2456557"/>
            <a:ext cx="15592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Enable strong 2FA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2597" y="2766268"/>
            <a:ext cx="155927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Prefer TOTP or hardware tokens over SMS.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3373041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892597" y="3416424"/>
            <a:ext cx="15592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Verify before you act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2597" y="3726135"/>
            <a:ext cx="1559272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Always confirm unexpected transfer requests with the bank directly.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64706" y="1428006"/>
            <a:ext cx="29160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Final checklist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64706" y="1720155"/>
            <a:ext cx="2458864" cy="1224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Look for TLS padlock and valid certificate when banking online.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Keep apps &amp; OS updated to maintain cryptographic library security.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suspicious activity immediately to your bank.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64706" y="3070920"/>
            <a:ext cx="2458864" cy="1220242"/>
          </a:xfrm>
          <a:prstGeom prst="roundRect">
            <a:avLst>
              <a:gd name="adj" fmla="val 1552"/>
            </a:avLst>
          </a:prstGeom>
          <a:solidFill>
            <a:srgbClr val="183A1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912" y="3256359"/>
            <a:ext cx="157758" cy="1262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74876" y="3203674"/>
            <a:ext cx="192248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AES + RSA + digital signatures + strong 2FA, online banking is secure when best practices are followed by both banks and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F82AB-4A37-4D4B-2C80-4E8E1603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39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Office PowerPoint</Application>
  <PresentationFormat>On-screen Show (16:9)</PresentationFormat>
  <Paragraphs>79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Raleway Bold</vt:lpstr>
      <vt:lpstr>Prata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Banaganapalli</dc:creator>
  <cp:lastModifiedBy>Banaganapalli Munna</cp:lastModifiedBy>
  <cp:revision>2</cp:revision>
  <dcterms:created xsi:type="dcterms:W3CDTF">2026-07-24T09:02:42Z</dcterms:created>
  <dcterms:modified xsi:type="dcterms:W3CDTF">2026-08-05T03:07:29Z</dcterms:modified>
</cp:coreProperties>
</file>